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5" r:id="rId12"/>
    <p:sldId id="346" r:id="rId13"/>
    <p:sldId id="347" r:id="rId14"/>
    <p:sldId id="348"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8" d="100"/>
          <a:sy n="78" d="100"/>
        </p:scale>
        <p:origin x="372" y="8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10/21/2025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10/21/2025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10/21/2025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colab.research.google.com/drive/1cfGQVj3WQxJZH2SVs9s8zJBC1ZyBd78B?usp=sharing"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365102" y="2463282"/>
            <a:ext cx="6322073" cy="1073020"/>
          </a:xfrm>
        </p:spPr>
        <p:txBody>
          <a:bodyPr>
            <a:normAutofit/>
          </a:bodyPr>
          <a:lstStyle/>
          <a:p>
            <a:r>
              <a:rPr lang="en-GB" sz="3200" b="1" dirty="0"/>
              <a:t>Netflix</a:t>
            </a:r>
            <a:r>
              <a:rPr lang="en-US" sz="3200" b="1" dirty="0"/>
              <a:t> Content Trends Analysis </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4">
            <a:extLst>
              <a:ext uri="{FF2B5EF4-FFF2-40B4-BE49-F238E27FC236}">
                <a16:creationId xmlns:a16="http://schemas.microsoft.com/office/drawing/2014/main" id="{4A908C51-7B94-3CF8-E4E6-0A319AB364D7}"/>
              </a:ext>
            </a:extLst>
          </p:cNvPr>
          <p:cNvSpPr>
            <a:spLocks noGrp="1"/>
          </p:cNvSpPr>
          <p:nvPr>
            <p:ph type="body" sz="quarter" idx="11"/>
          </p:nvPr>
        </p:nvSpPr>
        <p:spPr>
          <a:xfrm>
            <a:off x="5411788" y="3317875"/>
            <a:ext cx="5289550" cy="939800"/>
          </a:xfrm>
        </p:spPr>
        <p:txBody>
          <a:bodyPr/>
          <a:lstStyle/>
          <a:p>
            <a:r>
              <a:rPr lang="en-GB" dirty="0" err="1">
                <a:solidFill>
                  <a:schemeClr val="tx1">
                    <a:lumMod val="95000"/>
                    <a:lumOff val="5000"/>
                  </a:schemeClr>
                </a:solidFill>
              </a:rPr>
              <a:t>Devajith</a:t>
            </a:r>
            <a:r>
              <a:rPr lang="en-GB" dirty="0">
                <a:solidFill>
                  <a:schemeClr val="tx1">
                    <a:lumMod val="95000"/>
                    <a:lumOff val="5000"/>
                  </a:schemeClr>
                </a:solidFill>
              </a:rPr>
              <a:t> V R</a:t>
            </a:r>
          </a:p>
          <a:p>
            <a:r>
              <a:rPr lang="en-US" b="0" dirty="0"/>
              <a:t> STU68662b0bd29f11751526155</a:t>
            </a:r>
            <a:endParaRPr lang="en-GB" dirty="0">
              <a:solidFill>
                <a:schemeClr val="tx1">
                  <a:lumMod val="95000"/>
                  <a:lumOff val="5000"/>
                </a:schemeClr>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4700" y="1914255"/>
            <a:ext cx="6431280" cy="3607987"/>
          </a:xfrm>
        </p:spPr>
        <p:txBody>
          <a:bodyPr>
            <a:normAutofit fontScale="85000" lnSpcReduction="10000"/>
          </a:bodyPr>
          <a:lstStyle/>
          <a:p>
            <a:pPr fontAlgn="base"/>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fontAlgn="base"/>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 </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4480D71-BB98-83CB-16F7-66C0D7E45883}"/>
              </a:ext>
            </a:extLst>
          </p:cNvPr>
          <p:cNvSpPr txBox="1"/>
          <p:nvPr/>
        </p:nvSpPr>
        <p:spPr>
          <a:xfrm>
            <a:off x="532673" y="2038176"/>
            <a:ext cx="9601200" cy="3970318"/>
          </a:xfrm>
          <a:prstGeom prst="rect">
            <a:avLst/>
          </a:prstGeom>
          <a:noFill/>
        </p:spPr>
        <p:txBody>
          <a:bodyPr wrap="square">
            <a:spAutoFit/>
          </a:bodyPr>
          <a:lstStyle/>
          <a:p>
            <a:pPr>
              <a:buFont typeface="+mj-lt"/>
              <a:buAutoNum type="arabicPeriod"/>
            </a:pPr>
            <a:r>
              <a:rPr lang="en-US" b="1" dirty="0"/>
              <a:t>Analyze</a:t>
            </a:r>
            <a:r>
              <a:rPr lang="en-US" dirty="0"/>
              <a:t> the distribution and growth of Movies and TV Shows on Netflix over the years.</a:t>
            </a:r>
          </a:p>
          <a:p>
            <a:pPr>
              <a:buFont typeface="+mj-lt"/>
              <a:buAutoNum type="arabicPeriod"/>
            </a:pPr>
            <a:r>
              <a:rPr lang="en-US" b="1" dirty="0"/>
              <a:t>Identify</a:t>
            </a:r>
            <a:r>
              <a:rPr lang="en-US" dirty="0"/>
              <a:t> the most frequent genres and observe changes in their popularity.</a:t>
            </a:r>
          </a:p>
          <a:p>
            <a:pPr>
              <a:buFont typeface="+mj-lt"/>
              <a:buAutoNum type="arabicPeriod"/>
            </a:pPr>
            <a:r>
              <a:rPr lang="en-US" b="1" dirty="0"/>
              <a:t>Compare</a:t>
            </a:r>
            <a:r>
              <a:rPr lang="en-US" dirty="0"/>
              <a:t> country-wise contributions to Netflix’s content base to assess global diversity.</a:t>
            </a:r>
          </a:p>
          <a:p>
            <a:pPr>
              <a:buFont typeface="+mj-lt"/>
              <a:buAutoNum type="arabicPeriod"/>
            </a:pPr>
            <a:r>
              <a:rPr lang="en-US" b="1" dirty="0"/>
              <a:t>Provide</a:t>
            </a:r>
            <a:r>
              <a:rPr lang="en-US" dirty="0"/>
              <a:t> strategic recommendations for future content acquisition and production.</a:t>
            </a:r>
          </a:p>
          <a:p>
            <a:pPr>
              <a:buNone/>
            </a:pPr>
            <a:br>
              <a:rPr lang="en-US" dirty="0"/>
            </a:br>
            <a:endParaRPr lang="en-US" dirty="0"/>
          </a:p>
          <a:p>
            <a:pPr>
              <a:buNone/>
            </a:pPr>
            <a:r>
              <a:rPr lang="en-US" b="1" dirty="0"/>
              <a:t>Significance of the Study</a:t>
            </a:r>
          </a:p>
          <a:p>
            <a:pPr>
              <a:buNone/>
            </a:pPr>
            <a:r>
              <a:rPr lang="en-US" dirty="0"/>
              <a:t>This analysis is significant for understanding Netflix’s </a:t>
            </a:r>
            <a:r>
              <a:rPr lang="en-US" b="1" dirty="0"/>
              <a:t>content evolution and audience engagement patterns</a:t>
            </a:r>
            <a:r>
              <a:rPr lang="en-US" dirty="0"/>
              <a:t>. By identifying popular genres and underrepresented regions, the study offers actionable insights that can help Netflix make </a:t>
            </a:r>
            <a:r>
              <a:rPr lang="en-US" b="1" dirty="0"/>
              <a:t>data-driven business decisions</a:t>
            </a:r>
            <a:r>
              <a:rPr lang="en-US" dirty="0"/>
              <a:t>. Such findings are valuable for:</a:t>
            </a:r>
          </a:p>
          <a:p>
            <a:pPr>
              <a:buFont typeface="Arial" panose="020B0604020202020204" pitchFamily="34" charset="0"/>
              <a:buChar char="•"/>
            </a:pPr>
            <a:r>
              <a:rPr lang="en-US" dirty="0"/>
              <a:t>Enhancing </a:t>
            </a:r>
            <a:r>
              <a:rPr lang="en-US" b="1" dirty="0"/>
              <a:t>content strategy</a:t>
            </a:r>
            <a:r>
              <a:rPr lang="en-US" dirty="0"/>
              <a:t> and balancing global vs. local productions.</a:t>
            </a:r>
          </a:p>
          <a:p>
            <a:pPr>
              <a:buFont typeface="Arial" panose="020B0604020202020204" pitchFamily="34" charset="0"/>
              <a:buChar char="•"/>
            </a:pPr>
            <a:r>
              <a:rPr lang="en-US" dirty="0"/>
              <a:t>Recognizing </a:t>
            </a:r>
            <a:r>
              <a:rPr lang="en-US" b="1" dirty="0"/>
              <a:t>market trends</a:t>
            </a:r>
            <a:r>
              <a:rPr lang="en-US" dirty="0"/>
              <a:t> and regional viewer interests.</a:t>
            </a:r>
          </a:p>
          <a:p>
            <a:pPr>
              <a:buFont typeface="Arial" panose="020B0604020202020204" pitchFamily="34" charset="0"/>
              <a:buChar char="•"/>
            </a:pPr>
            <a:r>
              <a:rPr lang="en-US" dirty="0"/>
              <a:t>Supporting </a:t>
            </a:r>
            <a:r>
              <a:rPr lang="en-US" b="1" dirty="0"/>
              <a:t>strategic investments</a:t>
            </a:r>
            <a:r>
              <a:rPr lang="en-US" dirty="0"/>
              <a:t> in specific content types and countries.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A488652-DC56-EC26-5F31-ED7CB8D4D27A}"/>
              </a:ext>
            </a:extLst>
          </p:cNvPr>
          <p:cNvSpPr>
            <a:spLocks noGrp="1" noChangeArrowheads="1"/>
          </p:cNvSpPr>
          <p:nvPr>
            <p:ph type="body" sz="quarter" idx="12"/>
          </p:nvPr>
        </p:nvSpPr>
        <p:spPr bwMode="auto">
          <a:xfrm>
            <a:off x="543443" y="2213310"/>
            <a:ext cx="82926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Management and Strategy Team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Content and Production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Data Analytics and Insights Department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Data Analysts and Data Scientists (in the OTT or media industry)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Academic Researchers and Students (studying data analytics or media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Business Analysts and Market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1886" y="1246961"/>
            <a:ext cx="9027702" cy="5243448"/>
          </a:xfrm>
        </p:spPr>
        <p:txBody>
          <a:bodyPr/>
          <a:lstStyle/>
          <a:p>
            <a:pPr lvl="1">
              <a:lnSpc>
                <a:spcPct val="150000"/>
              </a:lnSpc>
            </a:pPr>
            <a:r>
              <a:rPr lang="en-IN" dirty="0"/>
              <a:t>Python</a:t>
            </a:r>
          </a:p>
          <a:p>
            <a:pPr lvl="1">
              <a:lnSpc>
                <a:spcPct val="150000"/>
              </a:lnSpc>
            </a:pPr>
            <a:r>
              <a:rPr lang="en-IN" dirty="0"/>
              <a:t>Google </a:t>
            </a:r>
            <a:r>
              <a:rPr lang="en-IN" dirty="0" err="1"/>
              <a:t>colab</a:t>
            </a:r>
            <a:endParaRPr lang="en-IN" dirty="0"/>
          </a:p>
          <a:p>
            <a:pPr lvl="1">
              <a:lnSpc>
                <a:spcPct val="150000"/>
              </a:lnSpc>
            </a:pPr>
            <a:r>
              <a:rPr lang="en-IN" dirty="0"/>
              <a:t>Matplotlib</a:t>
            </a:r>
          </a:p>
          <a:p>
            <a:pPr lvl="1">
              <a:lnSpc>
                <a:spcPct val="150000"/>
              </a:lnSpc>
            </a:pPr>
            <a:r>
              <a:rPr lang="en-IN" dirty="0" err="1"/>
              <a:t>numpy</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20982" y="300512"/>
            <a:ext cx="10156884" cy="1570860"/>
          </a:xfrm>
        </p:spPr>
        <p:txBody>
          <a:bodyPr>
            <a:normAutofit fontScale="90000"/>
          </a:bodyPr>
          <a:lstStyle/>
          <a:p>
            <a:r>
              <a:rPr lang="en-GB" dirty="0"/>
              <a:t>RESULTS-1 </a:t>
            </a:r>
            <a:br>
              <a:rPr lang="en-GB" dirty="0"/>
            </a:br>
            <a:br>
              <a:rPr lang="en-GB" dirty="0"/>
            </a:br>
            <a:r>
              <a:rPr lang="en-GB" sz="2700" b="0" dirty="0"/>
              <a:t>Netflix Dataset analysis G-collab code</a:t>
            </a:r>
            <a:endParaRPr lang="en-IN" sz="2700" b="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2734786-4DEA-9955-BFF8-FDF1EBB84300}"/>
              </a:ext>
            </a:extLst>
          </p:cNvPr>
          <p:cNvSpPr txBox="1"/>
          <p:nvPr/>
        </p:nvSpPr>
        <p:spPr>
          <a:xfrm>
            <a:off x="320982" y="2523065"/>
            <a:ext cx="116819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G-Collab Code: </a:t>
            </a:r>
          </a:p>
          <a:p>
            <a:r>
              <a:rPr lang="en-US" dirty="0">
                <a:hlinkClick r:id="rId3"/>
              </a:rPr>
              <a:t>https://colab.research.google.com/drive/1cfGQVj3WQxJZH2SVs9s8zJBC1ZyBd78B?usp=sharing</a:t>
            </a:r>
            <a:endParaRPr lang="en-US"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591982" y="120009"/>
            <a:ext cx="9914287" cy="830997"/>
          </a:xfrm>
        </p:spPr>
        <p:txBody>
          <a:bodyPr>
            <a:normAutofit fontScale="90000"/>
          </a:bodyPr>
          <a:lstStyle/>
          <a:p>
            <a:r>
              <a:rPr lang="en-GB" dirty="0"/>
              <a:t>RESULTS-2 (</a:t>
            </a:r>
            <a:r>
              <a:rPr lang="en-IN" b="0" dirty="0"/>
              <a:t>Analysis &amp; Visualizations)</a:t>
            </a:r>
            <a:br>
              <a:rPr lang="en-IN" b="0" dirty="0"/>
            </a:b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36EB5C4-B334-C562-399B-4AC61818DAC5}"/>
              </a:ext>
            </a:extLst>
          </p:cNvPr>
          <p:cNvSpPr txBox="1"/>
          <p:nvPr/>
        </p:nvSpPr>
        <p:spPr>
          <a:xfrm>
            <a:off x="591982" y="790023"/>
            <a:ext cx="1028751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Line Chart – Movies vs. TV Shows released per year</a:t>
            </a:r>
          </a:p>
          <a:p>
            <a:endParaRPr lang="en-US" dirty="0"/>
          </a:p>
          <a:p>
            <a:endParaRPr lang="en-US" dirty="0"/>
          </a:p>
        </p:txBody>
      </p:sp>
      <p:pic>
        <p:nvPicPr>
          <p:cNvPr id="6" name="Picture 5">
            <a:extLst>
              <a:ext uri="{FF2B5EF4-FFF2-40B4-BE49-F238E27FC236}">
                <a16:creationId xmlns:a16="http://schemas.microsoft.com/office/drawing/2014/main" id="{4B5BF717-6A55-F266-275E-6E3574B36B08}"/>
              </a:ext>
            </a:extLst>
          </p:cNvPr>
          <p:cNvPicPr>
            <a:picLocks noChangeAspect="1"/>
          </p:cNvPicPr>
          <p:nvPr/>
        </p:nvPicPr>
        <p:blipFill>
          <a:blip r:embed="rId3"/>
          <a:stretch>
            <a:fillRect/>
          </a:stretch>
        </p:blipFill>
        <p:spPr>
          <a:xfrm>
            <a:off x="0" y="1294942"/>
            <a:ext cx="12192000" cy="5370018"/>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ACFCA-66DF-3EE7-E60E-9F0EAD53BDA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32378C8-E611-6260-4DAF-2414973A0BF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2D0179D-4B76-C9AB-31D1-8CC432B2BC4E}"/>
              </a:ext>
            </a:extLst>
          </p:cNvPr>
          <p:cNvSpPr>
            <a:spLocks noGrp="1"/>
          </p:cNvSpPr>
          <p:nvPr>
            <p:ph type="title"/>
          </p:nvPr>
        </p:nvSpPr>
        <p:spPr>
          <a:xfrm>
            <a:off x="591982" y="120009"/>
            <a:ext cx="10539438" cy="830997"/>
          </a:xfrm>
        </p:spPr>
        <p:txBody>
          <a:bodyPr>
            <a:normAutofit fontScale="90000"/>
          </a:bodyPr>
          <a:lstStyle/>
          <a:p>
            <a:r>
              <a:rPr lang="en-GB" dirty="0"/>
              <a:t>RESULTS-2 (</a:t>
            </a:r>
            <a:r>
              <a:rPr lang="en-IN" b="0" dirty="0"/>
              <a:t>Analysis &amp; Visualizations)</a:t>
            </a:r>
            <a:br>
              <a:rPr lang="en-IN" b="0" dirty="0"/>
            </a:br>
            <a:endParaRPr lang="en-IN" dirty="0"/>
          </a:p>
        </p:txBody>
      </p:sp>
      <p:sp>
        <p:nvSpPr>
          <p:cNvPr id="7" name="Text Placeholder 30">
            <a:extLst>
              <a:ext uri="{FF2B5EF4-FFF2-40B4-BE49-F238E27FC236}">
                <a16:creationId xmlns:a16="http://schemas.microsoft.com/office/drawing/2014/main" id="{8ADEB8F7-054B-6C2E-4A25-1C897E9E86F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FBE31C0-A1C6-1414-1BB9-F865A8645F2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57EDBA8-DFE4-3761-0C07-1C81DF372C3B}"/>
              </a:ext>
            </a:extLst>
          </p:cNvPr>
          <p:cNvSpPr txBox="1"/>
          <p:nvPr/>
        </p:nvSpPr>
        <p:spPr>
          <a:xfrm>
            <a:off x="591982" y="790023"/>
            <a:ext cx="645228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Bar Chart – Top 10 Genres</a:t>
            </a:r>
          </a:p>
          <a:p>
            <a:endParaRPr lang="en-US" dirty="0"/>
          </a:p>
          <a:p>
            <a:endParaRPr lang="en-US" dirty="0"/>
          </a:p>
        </p:txBody>
      </p:sp>
      <p:pic>
        <p:nvPicPr>
          <p:cNvPr id="9" name="Picture 8">
            <a:extLst>
              <a:ext uri="{FF2B5EF4-FFF2-40B4-BE49-F238E27FC236}">
                <a16:creationId xmlns:a16="http://schemas.microsoft.com/office/drawing/2014/main" id="{24F3FE7B-CE7A-04BE-C2EF-6D0EDECB3C05}"/>
              </a:ext>
            </a:extLst>
          </p:cNvPr>
          <p:cNvPicPr>
            <a:picLocks noChangeAspect="1"/>
          </p:cNvPicPr>
          <p:nvPr/>
        </p:nvPicPr>
        <p:blipFill>
          <a:blip r:embed="rId3"/>
          <a:stretch>
            <a:fillRect/>
          </a:stretch>
        </p:blipFill>
        <p:spPr>
          <a:xfrm>
            <a:off x="0" y="1114322"/>
            <a:ext cx="12192000" cy="5743678"/>
          </a:xfrm>
          <a:prstGeom prst="rect">
            <a:avLst/>
          </a:prstGeom>
        </p:spPr>
      </p:pic>
    </p:spTree>
    <p:extLst>
      <p:ext uri="{BB962C8B-B14F-4D97-AF65-F5344CB8AC3E}">
        <p14:creationId xmlns:p14="http://schemas.microsoft.com/office/powerpoint/2010/main" val="191729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13E46-ED69-C9D6-02A3-BE76276212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8A9577-7990-4636-0BA8-ABE63235FBB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E1083BA-E203-6FAF-72A3-89F4A6DC9459}"/>
              </a:ext>
            </a:extLst>
          </p:cNvPr>
          <p:cNvSpPr>
            <a:spLocks noGrp="1"/>
          </p:cNvSpPr>
          <p:nvPr>
            <p:ph type="title"/>
          </p:nvPr>
        </p:nvSpPr>
        <p:spPr>
          <a:xfrm>
            <a:off x="591982" y="120009"/>
            <a:ext cx="11276557" cy="830997"/>
          </a:xfrm>
        </p:spPr>
        <p:txBody>
          <a:bodyPr>
            <a:normAutofit fontScale="90000"/>
          </a:bodyPr>
          <a:lstStyle/>
          <a:p>
            <a:r>
              <a:rPr lang="en-GB" dirty="0"/>
              <a:t>RESULTS-2 (</a:t>
            </a:r>
            <a:r>
              <a:rPr lang="en-IN" b="0" dirty="0"/>
              <a:t>Analysis &amp; Visualizations)</a:t>
            </a:r>
            <a:br>
              <a:rPr lang="en-IN" b="0" dirty="0"/>
            </a:br>
            <a:endParaRPr lang="en-IN" dirty="0"/>
          </a:p>
        </p:txBody>
      </p:sp>
      <p:sp>
        <p:nvSpPr>
          <p:cNvPr id="7" name="Text Placeholder 30">
            <a:extLst>
              <a:ext uri="{FF2B5EF4-FFF2-40B4-BE49-F238E27FC236}">
                <a16:creationId xmlns:a16="http://schemas.microsoft.com/office/drawing/2014/main" id="{0B5F918F-2BA4-65A4-CC1F-75EA855D049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5E9099D-C430-6D3F-E02C-12DAC1C975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D64AADD5-BBD2-25CF-402A-DA86C572E289}"/>
              </a:ext>
            </a:extLst>
          </p:cNvPr>
          <p:cNvSpPr txBox="1"/>
          <p:nvPr/>
        </p:nvSpPr>
        <p:spPr>
          <a:xfrm>
            <a:off x="591982" y="790023"/>
            <a:ext cx="102595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Stacked Bar Chart – Movies vs TV Shows per Country (Top 10 countries)</a:t>
            </a:r>
          </a:p>
          <a:p>
            <a:endParaRPr lang="en-US" dirty="0"/>
          </a:p>
          <a:p>
            <a:endParaRPr lang="en-US" dirty="0"/>
          </a:p>
        </p:txBody>
      </p:sp>
      <p:pic>
        <p:nvPicPr>
          <p:cNvPr id="6" name="Picture 5">
            <a:extLst>
              <a:ext uri="{FF2B5EF4-FFF2-40B4-BE49-F238E27FC236}">
                <a16:creationId xmlns:a16="http://schemas.microsoft.com/office/drawing/2014/main" id="{F1577068-E254-192E-9500-099F92706349}"/>
              </a:ext>
            </a:extLst>
          </p:cNvPr>
          <p:cNvPicPr>
            <a:picLocks noChangeAspect="1"/>
          </p:cNvPicPr>
          <p:nvPr/>
        </p:nvPicPr>
        <p:blipFill>
          <a:blip r:embed="rId3"/>
          <a:stretch>
            <a:fillRect/>
          </a:stretch>
        </p:blipFill>
        <p:spPr>
          <a:xfrm>
            <a:off x="625686" y="1211691"/>
            <a:ext cx="10974332" cy="5646309"/>
          </a:xfrm>
          <a:prstGeom prst="rect">
            <a:avLst/>
          </a:prstGeom>
        </p:spPr>
      </p:pic>
    </p:spTree>
    <p:extLst>
      <p:ext uri="{BB962C8B-B14F-4D97-AF65-F5344CB8AC3E}">
        <p14:creationId xmlns:p14="http://schemas.microsoft.com/office/powerpoint/2010/main" val="305046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77515-8938-C799-88A1-791C0FF28F6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1DF3D-9E9B-AAB8-2321-14BDBD7D605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35D9F2F-3168-4DBC-D1FC-C24EF1004611}"/>
              </a:ext>
            </a:extLst>
          </p:cNvPr>
          <p:cNvSpPr>
            <a:spLocks noGrp="1"/>
          </p:cNvSpPr>
          <p:nvPr>
            <p:ph type="title"/>
          </p:nvPr>
        </p:nvSpPr>
        <p:spPr>
          <a:xfrm>
            <a:off x="591982" y="120009"/>
            <a:ext cx="10483455" cy="830997"/>
          </a:xfrm>
        </p:spPr>
        <p:txBody>
          <a:bodyPr>
            <a:normAutofit fontScale="90000"/>
          </a:bodyPr>
          <a:lstStyle/>
          <a:p>
            <a:r>
              <a:rPr lang="en-GB" dirty="0"/>
              <a:t>RESULTS-2 (</a:t>
            </a:r>
            <a:r>
              <a:rPr lang="en-IN" b="0" dirty="0"/>
              <a:t>Analysis &amp; Visualizations)</a:t>
            </a:r>
            <a:br>
              <a:rPr lang="en-IN" b="0" dirty="0"/>
            </a:br>
            <a:endParaRPr lang="en-IN" dirty="0"/>
          </a:p>
        </p:txBody>
      </p:sp>
      <p:sp>
        <p:nvSpPr>
          <p:cNvPr id="7" name="Text Placeholder 30">
            <a:extLst>
              <a:ext uri="{FF2B5EF4-FFF2-40B4-BE49-F238E27FC236}">
                <a16:creationId xmlns:a16="http://schemas.microsoft.com/office/drawing/2014/main" id="{26CFB21F-C2AA-FE18-DCC9-01EBA5B7997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95B3DBF-7D28-DF6D-0EEC-BE95EE07D94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A6A8896-0588-0AD5-60BD-E701F1046FC8}"/>
              </a:ext>
            </a:extLst>
          </p:cNvPr>
          <p:cNvSpPr txBox="1"/>
          <p:nvPr/>
        </p:nvSpPr>
        <p:spPr>
          <a:xfrm>
            <a:off x="591982" y="790023"/>
            <a:ext cx="1015688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t>Choropleth Map – Country-wise Content</a:t>
            </a:r>
          </a:p>
          <a:p>
            <a:endParaRPr lang="en-US" dirty="0"/>
          </a:p>
          <a:p>
            <a:endParaRPr lang="en-US" dirty="0"/>
          </a:p>
        </p:txBody>
      </p:sp>
      <p:pic>
        <p:nvPicPr>
          <p:cNvPr id="9" name="Picture 8">
            <a:extLst>
              <a:ext uri="{FF2B5EF4-FFF2-40B4-BE49-F238E27FC236}">
                <a16:creationId xmlns:a16="http://schemas.microsoft.com/office/drawing/2014/main" id="{FF5A80F6-95C8-3A2B-EDBE-75E12604224B}"/>
              </a:ext>
            </a:extLst>
          </p:cNvPr>
          <p:cNvPicPr>
            <a:picLocks noChangeAspect="1"/>
          </p:cNvPicPr>
          <p:nvPr/>
        </p:nvPicPr>
        <p:blipFill>
          <a:blip r:embed="rId3"/>
          <a:stretch>
            <a:fillRect/>
          </a:stretch>
        </p:blipFill>
        <p:spPr>
          <a:xfrm>
            <a:off x="0" y="1391163"/>
            <a:ext cx="12192000" cy="5177587"/>
          </a:xfrm>
          <a:prstGeom prst="rect">
            <a:avLst/>
          </a:prstGeom>
        </p:spPr>
      </p:pic>
    </p:spTree>
    <p:extLst>
      <p:ext uri="{BB962C8B-B14F-4D97-AF65-F5344CB8AC3E}">
        <p14:creationId xmlns:p14="http://schemas.microsoft.com/office/powerpoint/2010/main" val="4174038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94BF-533E-742A-D300-585CF0C28B6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8E28F2-CC61-F9B0-E1E4-459D62F37DB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7790A0F-BC51-7B94-0576-8FF4C023CC33}"/>
              </a:ext>
            </a:extLst>
          </p:cNvPr>
          <p:cNvSpPr>
            <a:spLocks noGrp="1"/>
          </p:cNvSpPr>
          <p:nvPr>
            <p:ph type="title"/>
          </p:nvPr>
        </p:nvSpPr>
        <p:spPr>
          <a:xfrm>
            <a:off x="591982" y="120009"/>
            <a:ext cx="11008036" cy="830997"/>
          </a:xfrm>
        </p:spPr>
        <p:txBody>
          <a:bodyPr>
            <a:normAutofit fontScale="90000"/>
          </a:bodyPr>
          <a:lstStyle/>
          <a:p>
            <a:r>
              <a:rPr lang="en-GB" dirty="0"/>
              <a:t>RESULTS-2 (</a:t>
            </a:r>
            <a:r>
              <a:rPr lang="en-IN" b="0" dirty="0"/>
              <a:t>Analysis &amp; Visualizations)</a:t>
            </a:r>
            <a:br>
              <a:rPr lang="en-IN" b="0" dirty="0"/>
            </a:br>
            <a:endParaRPr lang="en-IN" dirty="0"/>
          </a:p>
        </p:txBody>
      </p:sp>
      <p:sp>
        <p:nvSpPr>
          <p:cNvPr id="7" name="Text Placeholder 30">
            <a:extLst>
              <a:ext uri="{FF2B5EF4-FFF2-40B4-BE49-F238E27FC236}">
                <a16:creationId xmlns:a16="http://schemas.microsoft.com/office/drawing/2014/main" id="{C743E2E0-EB5E-54D9-27E5-8A4E0E61844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2FF9F5E-8CDD-5292-DE81-D12D0CA367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96557BA-A625-9F15-4452-FA61458DAA26}"/>
              </a:ext>
            </a:extLst>
          </p:cNvPr>
          <p:cNvSpPr txBox="1"/>
          <p:nvPr/>
        </p:nvSpPr>
        <p:spPr>
          <a:xfrm>
            <a:off x="591982" y="790023"/>
            <a:ext cx="1002625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Trend Line – Growth of Popular Genres Over Time</a:t>
            </a:r>
          </a:p>
          <a:p>
            <a:endParaRPr lang="en-US" dirty="0"/>
          </a:p>
          <a:p>
            <a:endParaRPr lang="en-US" dirty="0"/>
          </a:p>
        </p:txBody>
      </p:sp>
      <p:pic>
        <p:nvPicPr>
          <p:cNvPr id="6" name="Picture 5">
            <a:extLst>
              <a:ext uri="{FF2B5EF4-FFF2-40B4-BE49-F238E27FC236}">
                <a16:creationId xmlns:a16="http://schemas.microsoft.com/office/drawing/2014/main" id="{F93A969D-FB5F-3ACB-95E4-65EB1D4F42C5}"/>
              </a:ext>
            </a:extLst>
          </p:cNvPr>
          <p:cNvPicPr>
            <a:picLocks noChangeAspect="1"/>
          </p:cNvPicPr>
          <p:nvPr/>
        </p:nvPicPr>
        <p:blipFill>
          <a:blip r:embed="rId3"/>
          <a:stretch>
            <a:fillRect/>
          </a:stretch>
        </p:blipFill>
        <p:spPr>
          <a:xfrm>
            <a:off x="305431" y="1129005"/>
            <a:ext cx="11565587" cy="5608986"/>
          </a:xfrm>
          <a:prstGeom prst="rect">
            <a:avLst/>
          </a:prstGeom>
        </p:spPr>
      </p:pic>
    </p:spTree>
    <p:extLst>
      <p:ext uri="{BB962C8B-B14F-4D97-AF65-F5344CB8AC3E}">
        <p14:creationId xmlns:p14="http://schemas.microsoft.com/office/powerpoint/2010/main" val="86563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153443" y="37059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61A57819-3D06-D699-3DEA-DBFC9BE504BE}"/>
              </a:ext>
            </a:extLst>
          </p:cNvPr>
          <p:cNvPicPr>
            <a:picLocks noChangeAspect="1"/>
          </p:cNvPicPr>
          <p:nvPr/>
        </p:nvPicPr>
        <p:blipFill>
          <a:blip r:embed="rId3"/>
          <a:stretch>
            <a:fillRect/>
          </a:stretch>
        </p:blipFill>
        <p:spPr>
          <a:xfrm>
            <a:off x="1729946" y="1343332"/>
            <a:ext cx="8180173" cy="5128588"/>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a:extLst>
              <a:ext uri="{FF2B5EF4-FFF2-40B4-BE49-F238E27FC236}">
                <a16:creationId xmlns:a16="http://schemas.microsoft.com/office/drawing/2014/main" id="{D8DC49B2-3B77-A00A-0423-CA3350E6FA56}"/>
              </a:ext>
            </a:extLst>
          </p:cNvPr>
          <p:cNvPicPr>
            <a:picLocks noChangeAspect="1"/>
          </p:cNvPicPr>
          <p:nvPr/>
        </p:nvPicPr>
        <p:blipFill>
          <a:blip r:embed="rId3"/>
          <a:stretch>
            <a:fillRect/>
          </a:stretch>
        </p:blipFill>
        <p:spPr>
          <a:xfrm>
            <a:off x="1767016" y="1458211"/>
            <a:ext cx="8217243" cy="5013709"/>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2895427"/>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737</TotalTime>
  <Words>449</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Netflix Content Trends Analysis </vt:lpstr>
      <vt:lpstr>PROBLEM  STATEMENT</vt:lpstr>
      <vt:lpstr>Project Description  </vt:lpstr>
      <vt:lpstr>WHO ARE THE END USERS?</vt:lpstr>
      <vt:lpstr>Technology Used</vt:lpstr>
      <vt:lpstr>RESULTS-1   Netflix Dataset analysis G-collab code</vt:lpstr>
      <vt:lpstr>RESULTS-2 (Analysis &amp; Visualizations) </vt:lpstr>
      <vt:lpstr>RESULTS-2 (Analysis &amp; Visualizations) </vt:lpstr>
      <vt:lpstr>RESULTS-2 (Analysis &amp; Visualizations) </vt:lpstr>
      <vt:lpstr>RESULTS-2 (Analysis &amp; Visualizations) </vt:lpstr>
      <vt:lpstr>RESULTS-2 (Analysis &amp; Visualizations)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DEVAJITH V.R</cp:lastModifiedBy>
  <cp:revision>119</cp:revision>
  <dcterms:created xsi:type="dcterms:W3CDTF">2021-07-11T13:13:15Z</dcterms:created>
  <dcterms:modified xsi:type="dcterms:W3CDTF">2025-10-21T13:35:47Z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